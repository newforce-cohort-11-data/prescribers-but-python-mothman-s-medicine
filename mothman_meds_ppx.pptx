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8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66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06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208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0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8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6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68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8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9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6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26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file:///C:\Users\user\workspace\c11\Python\projects\prescribers-but-python-mothman-s-medicine\treemap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user\workspace\c11\Python\projects\prescribers-but-python-mothman-s-medicine\tn_overdose_choropleth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dirty="0"/>
              <a:t>Opioid Oversight and Community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Representing community groups advocating for prescription opioid oversight</a:t>
            </a:r>
          </a:p>
          <a:p>
            <a:r>
              <a:rPr dirty="0"/>
              <a:t>Goal: Identify overdose trends, spending correlations, and socioeconomic factors</a:t>
            </a:r>
          </a:p>
          <a:p>
            <a:r>
              <a:rPr dirty="0"/>
              <a:t>Recommend data-informed actions for oversight and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BEDFD2F-1480-498D-9A62-BA55B14A3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52D381FB-9400-4C85-9074-8D2C4A88D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48C39C2-D375-4197-8882-9EBD58C85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306EEC9-6E83-4555-A9D3-7910ED27B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6F7B80-3B04-4C72-BA77-E34EF7FAC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D1AC6C6-FE68-4B13-BFCF-D0E8B3D81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333" y="808056"/>
            <a:ext cx="2001080" cy="1077229"/>
          </a:xfrm>
        </p:spPr>
        <p:txBody>
          <a:bodyPr>
            <a:normAutofit/>
          </a:bodyPr>
          <a:lstStyle/>
          <a:p>
            <a:pPr algn="l"/>
            <a:r>
              <a:rPr lang="en-US" sz="2200"/>
              <a:t>Overdose Death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063" y="1654183"/>
            <a:ext cx="2874806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Overdose deaths increased about 25% from 2015–2018.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The steepest rise occurred between 2015–2016, adding roughly 140 deaths.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Growth slowed after 2017 but remains upward — highlighting sustained risk.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E2C0214-1438-4F5F-8BB7-847D7B2B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113" y="0"/>
            <a:ext cx="446313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9D7CF-705E-AEC3-3E15-098B34C0FE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088" y="2304950"/>
            <a:ext cx="3925883" cy="2247559"/>
          </a:xfrm>
          <a:prstGeom prst="rect">
            <a:avLst/>
          </a:prstGeom>
          <a:ln w="12700">
            <a:noFill/>
          </a:ln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41CFFB3C-DBCC-498B-B635-CD1FA730D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7033" y="240175"/>
            <a:ext cx="4095810" cy="637183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B289EA-43E0-4FC3-A38C-8168D8F1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7E45EB-2082-42A1-A5FC-6D53F21DB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A5C072-919B-4308-A48B-96DC0CBF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F74E2F-7C51-4D72-96BA-528A50748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B61F797-14BD-476F-B569-140E96CB6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0235D8-BAC3-4440-8A9B-43D98243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F2FD5C-3192-4646-91D2-C907BDC4C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352" y="808056"/>
            <a:ext cx="6456028" cy="1077229"/>
          </a:xfrm>
        </p:spPr>
        <p:txBody>
          <a:bodyPr>
            <a:normAutofit/>
          </a:bodyPr>
          <a:lstStyle/>
          <a:p>
            <a:pPr algn="l"/>
            <a:r>
              <a:rPr lang="en-US"/>
              <a:t>Top Counties by Overdose Deaths</a:t>
            </a:r>
          </a:p>
        </p:txBody>
      </p:sp>
      <p:pic>
        <p:nvPicPr>
          <p:cNvPr id="5" name="Picture 4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C0C0F4DF-5569-143D-74F5-E35107ABA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12" y="2523067"/>
            <a:ext cx="5073660" cy="2929466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0862" y="1991572"/>
            <a:ext cx="2467489" cy="3997828"/>
          </a:xfrm>
        </p:spPr>
        <p:txBody>
          <a:bodyPr>
            <a:normAutofit/>
          </a:bodyPr>
          <a:lstStyle/>
          <a:p>
            <a:endParaRPr lang="en-US" sz="1500" dirty="0"/>
          </a:p>
          <a:p>
            <a:r>
              <a:rPr lang="en-US" sz="1500" dirty="0"/>
              <a:t>Davidson County overdose deaths rose approximately 57% from 2015 to 2018.</a:t>
            </a:r>
          </a:p>
          <a:p>
            <a:r>
              <a:rPr lang="en-US" sz="1500" dirty="0"/>
              <a:t>Shelby County peaked in 2017 but declined in 2018.</a:t>
            </a:r>
          </a:p>
          <a:p>
            <a:r>
              <a:rPr lang="en-US" sz="1500" dirty="0"/>
              <a:t>Davidson remains the state’s highest-burden county for overdoses.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64258-BA63-4452-B6A7-27E3497D9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427" y="367791"/>
            <a:ext cx="5878011" cy="1077229"/>
          </a:xfrm>
        </p:spPr>
        <p:txBody>
          <a:bodyPr>
            <a:normAutofit/>
          </a:bodyPr>
          <a:lstStyle/>
          <a:p>
            <a:r>
              <a:rPr dirty="0"/>
              <a:t>Relationship Between Opioid Spending and </a:t>
            </a:r>
            <a:r>
              <a:rPr lang="en-US" dirty="0"/>
              <a:t>Unemployment Rate</a:t>
            </a:r>
            <a:endParaRPr dirty="0"/>
          </a:p>
        </p:txBody>
      </p:sp>
      <p:pic>
        <p:nvPicPr>
          <p:cNvPr id="5" name="Content Placeholder 4" descr="A screenshot of a graph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96861749-6CE4-B3B2-0448-40BA634C4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1654" y="1684866"/>
            <a:ext cx="7082546" cy="44958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C8693A-B687-4F5E-B86B-B4F11D523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1084F9-D042-49BE-9E1A-43E583B98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65CA45-264D-4FD3-9249-3CB04EC97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7B58214-716F-43B8-8272-85CE2B9AB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5C070E-7DB1-4147-B6A8-D14B9C40E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1070C9-36CD-4B65-8159-324995821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5D1AC-C409-567D-AA21-52F6F67C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352" y="808056"/>
            <a:ext cx="6456028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/>
            <a:r>
              <a:rPr lang="en-US" sz="3400" dirty="0"/>
              <a:t>Counties with Downward Trend of Deaths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D719F-DDD9-8A07-8C94-5928E1C17F4C}"/>
              </a:ext>
            </a:extLst>
          </p:cNvPr>
          <p:cNvSpPr txBox="1"/>
          <p:nvPr/>
        </p:nvSpPr>
        <p:spPr>
          <a:xfrm>
            <a:off x="918169" y="1907687"/>
            <a:ext cx="2181126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/>
              <a:t>Several smaller counties – McNairy, Morgan, Putnam, Chester, Claiborne — show declines from 2015 to 2018.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/>
              <a:t>The most consistent improvement occurred in Putnam, Morgan, and McNairy.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C35FB2-5194-4BE0-92D0-464E2B711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0DAF7F3-FB6C-0253-D801-A72423D64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/>
          <a:stretch/>
        </p:blipFill>
        <p:spPr>
          <a:xfrm>
            <a:off x="3261644" y="2105202"/>
            <a:ext cx="5076047" cy="4000500"/>
          </a:xfrm>
        </p:spPr>
      </p:pic>
    </p:spTree>
    <p:extLst>
      <p:ext uri="{BB962C8B-B14F-4D97-AF65-F5344CB8AC3E}">
        <p14:creationId xmlns:p14="http://schemas.microsoft.com/office/powerpoint/2010/main" val="320876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962" y="841246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/>
              <a:t>Economic Hardship and Overdose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Unemployment does not show a strong statewide correlation with overdose deaths.</a:t>
            </a:r>
          </a:p>
          <a:p>
            <a:r>
              <a:rPr lang="en-US" sz="1600">
                <a:solidFill>
                  <a:schemeClr val="tx2"/>
                </a:solidFill>
              </a:rPr>
              <a:t>Some overlap exists in southwest counties, linking hardship and drug use risk.</a:t>
            </a:r>
          </a:p>
          <a:p>
            <a:r>
              <a:rPr lang="en-US" sz="1600">
                <a:solidFill>
                  <a:schemeClr val="tx2"/>
                </a:solidFill>
                <a:hlinkClick r:id="rId2"/>
              </a:rPr>
              <a:t>Link to Map</a:t>
            </a:r>
            <a:endParaRPr lang="en-US" sz="1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191</TotalTime>
  <Words>186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Madison</vt:lpstr>
      <vt:lpstr>Opioid Oversight and Community Impact</vt:lpstr>
      <vt:lpstr>Overdose Death Trends</vt:lpstr>
      <vt:lpstr>Top Counties by Overdose Deaths</vt:lpstr>
      <vt:lpstr>Relationship Between Opioid Spending and Unemployment Rate</vt:lpstr>
      <vt:lpstr>Counties with Downward Trend of Deaths</vt:lpstr>
      <vt:lpstr>Economic Hardship and Overdose Rates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MeganH</dc:creator>
  <cp:keywords/>
  <dc:description>generated using python-pptx</dc:description>
  <cp:lastModifiedBy>Megan  Howard</cp:lastModifiedBy>
  <cp:revision>4</cp:revision>
  <dcterms:created xsi:type="dcterms:W3CDTF">2013-01-27T09:14:16Z</dcterms:created>
  <dcterms:modified xsi:type="dcterms:W3CDTF">2025-09-30T18:25:24Z</dcterms:modified>
  <cp:category/>
</cp:coreProperties>
</file>